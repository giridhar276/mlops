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140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473952"/>
            <a:ext cx="11475720" cy="0"/>
          </a:xfrm>
          <a:prstGeom prst="line">
            <a:avLst/>
          </a:prstGeom>
          <a:noFill/>
          <a:ln w="12700">
            <a:solidFill>
              <a:srgbClr val="D6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515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Introduction to Machine Learning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13232" y="18745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7D2FE"/>
                </a:solidFill>
              </a:rPr>
              <a:t>Algorithms • End-to-end ML flow • Deep Learning basics • Evaluation metrics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77240" y="3154680"/>
            <a:ext cx="1828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86968" y="3264408"/>
            <a:ext cx="16093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Data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51760" y="351129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26080" y="3154680"/>
            <a:ext cx="1828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35808" y="3264408"/>
            <a:ext cx="16093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Features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351129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74920" y="3154680"/>
            <a:ext cx="1828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84648" y="3264408"/>
            <a:ext cx="16093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Model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49440" y="351129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223760" y="3154680"/>
            <a:ext cx="1828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33488" y="3264408"/>
            <a:ext cx="16093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Prediction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98280" y="351129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372600" y="3154680"/>
            <a:ext cx="1828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482328" y="3264408"/>
            <a:ext cx="16093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Evaluation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9808" y="55778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Trainer-ready 50-slide deck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What participants should understand after this session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Overview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498348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Explain what machine learning is and where it fits in AI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Understand the common ML project workflow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Recognize major supervised and unsupervised algorithms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Know when to use regression, classification and clustering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92240" y="1234440"/>
            <a:ext cx="498348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Describe the basics of neural networks and deep learning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Understand common model evaluation metrics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Avoid common mistakes like leakage and overfitting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Connect ML concepts to real business use cases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Machine Learning?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A practical definition for business and technical audiences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Basics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2563EB"/>
                </a:solidFill>
              </a:rPr>
              <a:t>🧠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1828800" y="1325880"/>
            <a:ext cx="566928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Machine Learning is a way for software to learn patterns from data.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Instead of writing every rule manually, we train a model using examples.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The model then makes predictions or decisions on new data.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886200"/>
            <a:ext cx="102412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651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0" y="3886200"/>
            <a:ext cx="73152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43000" y="4032504"/>
            <a:ext cx="99212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Classic programming: Rules + Data → Output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Machine learning: Data + Output examples → Learned rules / Model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vs ML vs Deep Learning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How the terms relate to each other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Basics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914400" y="1143000"/>
            <a:ext cx="8595360" cy="4389120"/>
          </a:xfrm>
          <a:prstGeom prst="ellipse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80160" y="15087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</a:rPr>
              <a:t>Artificial Intelligence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</a:rPr>
              <a:t>Systems that perform intelligent tasks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34640" y="1828800"/>
            <a:ext cx="5669280" cy="3154680"/>
          </a:xfrm>
          <a:prstGeom prst="ellipse">
            <a:avLst/>
          </a:prstGeom>
          <a:solidFill>
            <a:srgbClr val="CCFBF1">
              <a:alpha val="92000"/>
            </a:srgbClr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91840" y="21762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766E"/>
                </a:solidFill>
              </a:rPr>
              <a:t>Machine Learning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766E"/>
                </a:solidFill>
              </a:rPr>
              <a:t>Learning patterns from data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09160" y="2606040"/>
            <a:ext cx="3246120" cy="1645920"/>
          </a:xfrm>
          <a:prstGeom prst="ellipse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7492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</a:rPr>
              <a:t>Deep Learning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</a:rPr>
              <a:t>Neural networks with many layers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732520" y="1828800"/>
            <a:ext cx="24688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651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732520" y="1828800"/>
            <a:ext cx="73152" cy="2286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961120" y="1975104"/>
            <a:ext cx="21488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AI is the broad goal. ML is one major approach. Deep Learning is a powerful family of ML methods.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Machine Learning is Widely Used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The practical drivers behind adoption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Basics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914400" y="1834286"/>
            <a:ext cx="782726" cy="269199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4599432"/>
            <a:ext cx="8741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0" y="1605686"/>
            <a:ext cx="7827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</a:rPr>
              <a:t>92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61718" y="2126894"/>
            <a:ext cx="782726" cy="239938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815998" y="4599432"/>
            <a:ext cx="8741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Compute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861718" y="1898294"/>
            <a:ext cx="7827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</a:rPr>
              <a:t>82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809037" y="2302459"/>
            <a:ext cx="782726" cy="2223821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63317" y="4599432"/>
            <a:ext cx="8741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Cloud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809037" y="2073859"/>
            <a:ext cx="7827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</a:rPr>
              <a:t>76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756355" y="1951330"/>
            <a:ext cx="782726" cy="257495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710635" y="4599432"/>
            <a:ext cx="8741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Tools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756355" y="1722730"/>
            <a:ext cx="7827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</a:rPr>
              <a:t>88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03674" y="2185416"/>
            <a:ext cx="782726" cy="2340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57954" y="4599432"/>
            <a:ext cx="8741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Business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03674" y="1956816"/>
            <a:ext cx="7827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</a:rPr>
              <a:t>80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00800" y="1417320"/>
            <a:ext cx="484632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More data from apps, sensors, logs and transactions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Scalable compute through cloud and GPUs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Mature Python libraries and MLOps platforms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Pressure to automate decisions and improve customer experience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Major Types of Machine Learning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Three broad learning patterns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Basics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333756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86968" y="1527048"/>
            <a:ext cx="3118104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Supervised Learning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Learn from labeled examples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Regression • Classification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1417320"/>
            <a:ext cx="333756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44568" y="1527048"/>
            <a:ext cx="3118104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Unsupervised Learning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Find hidden structure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Clustering • Dimensionality reduction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2440" y="1417320"/>
            <a:ext cx="333756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02168" y="1527048"/>
            <a:ext cx="3118104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Reinforcement Learning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Learn through reward and feedback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Agents • Policies • Actions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143000" y="5257800"/>
            <a:ext cx="97840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651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143000" y="5257800"/>
            <a:ext cx="73152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71600" y="5404104"/>
            <a:ext cx="9464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Most business ML use cases begin with supervised learning because historical examples are available.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Machine Learning Flow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A standard workflow used in most ML projects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Flow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1319349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984248"/>
            <a:ext cx="109989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Problem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2269" y="223113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96589" y="1874520"/>
            <a:ext cx="1319349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06317" y="1984248"/>
            <a:ext cx="109989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Data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61657" y="223113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735977" y="1874520"/>
            <a:ext cx="1319349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45705" y="1984248"/>
            <a:ext cx="109989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EDA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01046" y="223113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375366" y="1874520"/>
            <a:ext cx="1319349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5094" y="1984248"/>
            <a:ext cx="109989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Preprocess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40434" y="223113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014754" y="1874520"/>
            <a:ext cx="1319349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24482" y="1984248"/>
            <a:ext cx="109989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Train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379823" y="223113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654143" y="1874520"/>
            <a:ext cx="1319349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763871" y="1984248"/>
            <a:ext cx="109989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Evaluate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019211" y="223113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293531" y="1874520"/>
            <a:ext cx="1319349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403259" y="1984248"/>
            <a:ext cx="109989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Deploy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3154680"/>
            <a:ext cx="996696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ML is not only model training. The model is one part of a repeatable engineering process.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Good results usually come from clear problem definition, clean data, useful features and reliable evaluation.</a:t>
            </a:r>
            <a:endParaRPr lang="en-US" sz="16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1: Define the Business Problem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Start with the decision you want to improve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Flow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280160"/>
            <a:ext cx="521208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1. Define the business objective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2. Translate objective into an ML task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3. Identify target variable and prediction point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4. Decide success criteria and constraints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92240" y="1828800"/>
            <a:ext cx="44805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651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92240" y="1828800"/>
            <a:ext cx="73152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720840" y="1975104"/>
            <a:ext cx="416052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Example: “Reduce customer churn” becomes “Predict which customers are likely to leave in the next 30 days.”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92240" y="3703320"/>
            <a:ext cx="4480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92240" y="3703320"/>
            <a:ext cx="73152" cy="9601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20840" y="3849624"/>
            <a:ext cx="41605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Good ML starts with a measurable question, not with an algorithm.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2: Data Collection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Bring together reliable and relevant data sources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Flow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137160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1481328"/>
            <a:ext cx="298094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Structured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CSV, SQL tables, Excel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80560" y="137160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90288" y="1481328"/>
            <a:ext cx="298094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Semi-structured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JSON, XML, logs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137160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47888" y="1481328"/>
            <a:ext cx="298094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Unstructured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Text, images, audio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337560"/>
            <a:ext cx="987552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Collect input features and the target label where applicable.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Check data ownership, privacy, consent and security requirements.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Keep raw data snapshots to make experiments reproducible.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3: Data Understanding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Know what each column means before modeling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Flow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498348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Column definitions and business meaning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Data types: numeric, categorical, text, datetime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Target distribution and class balance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Missing values and duplicate records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92240" y="1234440"/>
            <a:ext cx="498348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Outliers and unusual values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Relationships between variables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Time period covered by the data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Potential leakage columns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Exploratory Data Analysis (EDA)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EDA helps you see the story inside the data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Flow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914400" y="3230880"/>
            <a:ext cx="1231392" cy="1295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4599432"/>
            <a:ext cx="1322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Low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0" y="3002280"/>
            <a:ext cx="1231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</a:rPr>
              <a:t>25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310384" y="2194560"/>
            <a:ext cx="1231392" cy="2331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64664" y="4599432"/>
            <a:ext cx="1322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Medium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310384" y="1965960"/>
            <a:ext cx="1231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</a:rPr>
              <a:t>45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706368" y="2971800"/>
            <a:ext cx="1231392" cy="1554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60648" y="4599432"/>
            <a:ext cx="1322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High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706368" y="2743200"/>
            <a:ext cx="1231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</a:rPr>
              <a:t>30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97880" y="1325880"/>
            <a:ext cx="521208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Use summary statistics: count, mean, median, min, max.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Visualize distributions using histograms and box plots.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Compare target patterns across important features.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EDA often reveals data quality issues before training.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4: Data Preprocessing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Convert raw data into model-ready data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Flow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Missing values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79192" y="218541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953512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063240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Encoding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9744" y="218541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84064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93792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Scaling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0296" y="218541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214616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24344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Outliers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70848" y="218541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345168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454896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Train-ready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337560"/>
            <a:ext cx="1024128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Numerical columns may need missing value handling and scaling.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Categorical columns usually need encoding such as one-hot encoding.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Text and images need specialized transformations.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Engineering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Create useful inputs that improve learning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Flow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132588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78408" y="1435608"/>
            <a:ext cx="302666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Datetime features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month, weekday, hour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80560" y="132588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90288" y="1435608"/>
            <a:ext cx="302666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Aggregates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average, count, trend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2440" y="132588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02168" y="1435608"/>
            <a:ext cx="302666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Domain features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risk score, age group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840480"/>
            <a:ext cx="104241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14400" y="3840480"/>
            <a:ext cx="73152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43000" y="3986784"/>
            <a:ext cx="101041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Feature engineering combines domain knowledge with data understanding. A simple model with good features can beat a complex model with poor features.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Train-Test Split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Test the model on data it has not seen during training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Flow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24128" y="1938528"/>
            <a:ext cx="362102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Training data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Usually 70–80%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Used to learn patterns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06640" y="18288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16368" y="1938528"/>
            <a:ext cx="362102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Testing data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Usually 20–30%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Used for final evaluation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983480" y="2743200"/>
            <a:ext cx="214884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280160" y="4572000"/>
            <a:ext cx="9601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651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280160" y="4572000"/>
            <a:ext cx="73152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08760" y="4718304"/>
            <a:ext cx="92811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Never train on test data. This prevents overly optimistic results and gives a realistic estimate of performance.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5: Model Training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The algorithm learns parameters from examples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Flow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Algorithm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79192" y="218541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953512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063240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Training data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9744" y="218541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84064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93792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Learning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0296" y="218541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214616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24344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Model object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70848" y="218541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345168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454896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Predictions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246120"/>
            <a:ext cx="996696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Training means fitting the model to data.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Different algorithms learn in different ways.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The output is a trained model that can predict new examples.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6: Model Validation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Check whether the model generalizes well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Flow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498348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Use validation set or cross-validation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Compare multiple algorithms fairly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Tune hyperparameters carefully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Track all experiments and metrics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92240" y="1234440"/>
            <a:ext cx="498348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Look for overfitting and underfitting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Inspect error cases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Check business impact, not only technical metrics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Document assumptions and limitations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7: Deployment and Monitoring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ML models need care after deployment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Flow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Package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79192" y="218541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953512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063240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API / Batch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9744" y="218541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84064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93792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Consume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0296" y="218541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214616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24344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Monitor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70848" y="218541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345168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454896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Retrain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246120"/>
            <a:ext cx="996696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Deploy as a REST API, batch job, dashboard, or embedded application.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Monitor prediction quality, data drift, latency and failures.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Retrain when data patterns change.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Supervised Learning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Learning from examples that already have answers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Algorithms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187452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78408" y="1984248"/>
            <a:ext cx="298094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Input features X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customer age, income, usage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2542032"/>
            <a:ext cx="105156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532120" y="187452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41848" y="1984248"/>
            <a:ext cx="298094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Target 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churn yes/no or sales amount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961120" y="2542032"/>
            <a:ext cx="77724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921240" y="1874520"/>
            <a:ext cx="1554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30968" y="1984248"/>
            <a:ext cx="133502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Model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learns mapping X → 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4206240"/>
            <a:ext cx="98755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Regression predicts a numeric value.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Classification predicts a category or class label.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Regression Algorithms Generally Used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Use when the output is a number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Algorithms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498348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Linear Regression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Ridge / Lasso Regression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Decision Tree Regressor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Random Forest Regressor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Gradient Boosting / XGBoost / LightGBM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92240" y="1234440"/>
            <a:ext cx="498348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Use cases: sales forecasting, price prediction, demand prediction, duration estimation, cost prediction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Common output: continuous numeric value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Key metrics: MAE, MSE, RMSE, R²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Linear Regression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Simple, interpretable baseline for numeric prediction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Algorithms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005840" y="4846320"/>
            <a:ext cx="448056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741004" y="3328666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919937" y="4456738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22368" y="2765850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97594" y="3452580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962480" y="4175359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17025" y="2120077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73799" y="1724300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57594" y="2311395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615197" y="434908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850074" y="2109348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014539" y="3495565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78873" y="1887539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278517" y="2141548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351749" y="3479347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77482" y="2702183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599803" y="2894147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998380" y="4314229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537576" y="390015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26480" y="1508760"/>
            <a:ext cx="493776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Assumes a mostly linear relationship between inputs and output.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Easy to explain and useful as a first baseline.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Works best when features are meaningful and outliers are controlled.</a:t>
            </a:r>
            <a:endParaRPr lang="en-US" sz="16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Tree for Regression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Splits data into rules and predicts average values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Algorithms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0" y="114300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681728" y="1252728"/>
            <a:ext cx="22494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Is income &gt; 8L?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06440" y="1737360"/>
            <a:ext cx="0" cy="82296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806440" y="1737360"/>
            <a:ext cx="2011680" cy="82296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68880" y="2560320"/>
            <a:ext cx="22860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78608" y="2670048"/>
            <a:ext cx="20665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Age &gt; 35?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03720" y="2560320"/>
            <a:ext cx="22860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013448" y="2670048"/>
            <a:ext cx="20665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Usage high?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280160" y="416052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89888" y="427024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₹42K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794760" y="416052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904488" y="427024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₹58K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416052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19088" y="427024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₹73K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823960" y="416052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933688" y="427024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₹91K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5257800"/>
            <a:ext cx="104241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Very easy to visualize as business rules.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Can capture non-linear patterns.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Can overfit if the tree becomes too deep.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Random Forest and Boosting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Powerful ensemble methods for structured data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Algorithms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4754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1527048"/>
            <a:ext cx="4535424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Random Forest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Many trees vote / average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Stable and robust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629400" y="1417320"/>
            <a:ext cx="4754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739128" y="1527048"/>
            <a:ext cx="4535424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Gradient Boosting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Trees improve one after another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Often high accuracy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97280" y="4572000"/>
            <a:ext cx="9875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651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97280" y="457200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25880" y="4718304"/>
            <a:ext cx="95554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Ensemble methods are commonly used in real projects because they handle non-linear data well and require less feature scaling.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Classification Algorithms Generally Used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Use when the output is a category or class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Algorithms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498348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Logistic Regression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Decision Tree Classifier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Random Forest Classifier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Support Vector Machine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k-Nearest Neighbors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Naive Bayes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92240" y="1234440"/>
            <a:ext cx="498348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Use cases: churn prediction, fraud detection, spam detection, disease screening, ticket classification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Common output: class label and probability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Key metrics: accuracy, precision, recall, F1, ROC-AUC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Logistic Regression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A strong baseline for binary classification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Algorithms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914400" y="1645920"/>
            <a:ext cx="4572000" cy="2743200"/>
          </a:xfrm>
          <a:prstGeom prst="arc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25880" y="4572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</a:rPr>
              <a:t>Probability between 0 and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26480" y="1508760"/>
            <a:ext cx="493776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Despite the name, it is used for classification.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Produces class probabilities.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Works well when classes are reasonably separable and features are clean.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Tree Classifier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Rule-based classification that is easy to explain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Algorithms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389120" y="1051560"/>
            <a:ext cx="29260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498848" y="1161288"/>
            <a:ext cx="2706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Transaction amount &gt; ₹50K?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52160" y="1691640"/>
            <a:ext cx="0" cy="91440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852160" y="1691640"/>
            <a:ext cx="2468880" cy="91440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011680" y="260604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121408" y="2715768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Country unusual?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49440" y="260604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059168" y="2715768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Device new?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280160" y="425196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89888" y="4361688"/>
            <a:ext cx="17007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Not Fraud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0" y="425196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67328" y="4361688"/>
            <a:ext cx="17007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Fraud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0" y="425196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27648" y="4361688"/>
            <a:ext cx="17007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Review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595360" y="425196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705088" y="4361688"/>
            <a:ext cx="17007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Fraud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Random Forest Classifier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Combines many decision trees to improve stability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Algorithms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150876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78408" y="1618488"/>
            <a:ext cx="1197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Tree 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0" y="150876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35808" y="1618488"/>
            <a:ext cx="1197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Tree 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83480" y="150876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93208" y="1618488"/>
            <a:ext cx="1197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Tree 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040880" y="150876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50608" y="1618488"/>
            <a:ext cx="1197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Tree 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581912" y="2286000"/>
            <a:ext cx="4224528" cy="118872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39312" y="2286000"/>
            <a:ext cx="2167128" cy="118872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696712" y="2286000"/>
            <a:ext cx="109728" cy="118872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54112" y="2286000"/>
            <a:ext cx="0" cy="118872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46320" y="352044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56048" y="3630168"/>
            <a:ext cx="179222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Majority vote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class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589520" y="1828800"/>
            <a:ext cx="347472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Reduces variance compared with one tree.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Handles mixed feature types well.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Useful baseline for tabular classification.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Support Vector Machine (SVM)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Finds a separating boundary with maximum margin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Algorithms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651760" y="5120640"/>
            <a:ext cx="32004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71982" y="3757633"/>
            <a:ext cx="118872" cy="1188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497942" y="1836751"/>
            <a:ext cx="118872" cy="1188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909752" y="2813192"/>
            <a:ext cx="118872" cy="1188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53519" y="4077592"/>
            <a:ext cx="118872" cy="1188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08896" y="3662058"/>
            <a:ext cx="118872" cy="1188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666572" y="3934833"/>
            <a:ext cx="118872" cy="1188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479610" y="1855912"/>
            <a:ext cx="118872" cy="1188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431599" y="1870860"/>
            <a:ext cx="118872" cy="1188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368432" y="4586619"/>
            <a:ext cx="118872" cy="1188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907111" y="3479811"/>
            <a:ext cx="118872" cy="1188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13074" y="401386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77609" y="1877720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588887" y="2243427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626444" y="3573321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726686" y="302795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30875" y="2120830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028339" y="4148725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952058" y="1389864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534409" y="1412371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775616" y="2543718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406640" y="1600200"/>
            <a:ext cx="347472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Works well for smaller and medium-sized datasets.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Can use kernels for non-linear boundaries.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Feature scaling is important for SVM.</a:t>
            </a:r>
            <a:endParaRPr lang="en-US" sz="16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k-Nearest Neighbors (kNN)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Classifies based on similar nearby examples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Algorithms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834640" y="2194560"/>
            <a:ext cx="1645920" cy="164592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520440" y="288036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154680" y="39776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3AED"/>
                </a:solidFill>
              </a:rPr>
              <a:t>New point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5180" y="3725479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307341" y="3160483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25636" y="4039253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39829" y="3850993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14525" y="1431492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718197" y="2087943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085457" y="3936696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41887" y="2038006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555787" y="4213617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858517" y="1847184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799213" y="1895829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094550" y="3416917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17886" y="1445573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985828" y="2432824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731640" y="2475405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392168" y="3074400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783846" y="1384638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992700" y="2765887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83680" y="1600200"/>
            <a:ext cx="448056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No heavy training step; prediction uses distance to neighbors.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Simple concept for beginners.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Can become slow with very large datasets.</a:t>
            </a:r>
            <a:endParaRPr lang="en-US" sz="16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Naive Bayes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Fast probabilistic classifier often used for text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Algorithms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19202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78408" y="2029968"/>
            <a:ext cx="20665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Words / Tokens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2377440"/>
            <a:ext cx="96012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26280" y="192024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36008" y="2029968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Probability model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269480" y="2377440"/>
            <a:ext cx="96012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412480" y="192024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522208" y="2029968"/>
            <a:ext cx="22494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Spam / Not Spam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840480"/>
            <a:ext cx="1005840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Popular for spam filtering and document classification.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Works surprisingly well with bag-of-words text features.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Fast to train and a good baseline for NLP tasks.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Unsupervised Learning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Finding patterns when there is no target label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Algorithms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201168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78408" y="2121408"/>
            <a:ext cx="25237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Raw data without labels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840480" y="2468880"/>
            <a:ext cx="91440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20116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47488" y="2121408"/>
            <a:ext cx="27066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Algorithm discovers structure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92440" y="2468880"/>
            <a:ext cx="91440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189720" y="201168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299448" y="2121408"/>
            <a:ext cx="19751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Groups, patterns or reduced dimensions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886200"/>
            <a:ext cx="1005840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Used for customer segmentation, anomaly discovery and data exploration.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Results need business interpretation because there is no direct answer key.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K-Means Clustering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Groups records into K similar clusters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Algorithms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236387" y="1648475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91692" y="2026315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574217" y="2070197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41975" y="2280749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455806" y="2045981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131432" y="1847091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657212" y="1964205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348232" y="2241800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852345" y="2050290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624467" y="1554605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910881" y="2006126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495850" y="1614228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587886" y="2146793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651942" y="2179513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398033" y="1939702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475647" y="3441301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425064" y="3557509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19269" y="3423789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807483" y="3726871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919288" y="3326916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401390" y="3179015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661789" y="3298764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300395" y="3298841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534179" y="3750640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815330" y="3626513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371126" y="3566926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37757" y="3177701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441219" y="3561205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787025" y="3124473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638801" y="3766294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303609" y="4510323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878210" y="4492394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591570" y="4592124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804117" y="4457104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555081" y="4063756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139313" y="4044019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859510" y="4687417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921378" y="4231993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249793" y="4377853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2855025" y="4454448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2903273" y="4548694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124263" y="4102368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621327" y="4597756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2488977" y="4606608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3046551" y="4526416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400800" y="1417320"/>
            <a:ext cx="457200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Choose the number of clusters K.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Assign each point to the nearest cluster center.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Update centers and repeat until stable.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Works best for compact, round-ish clusters.</a:t>
            </a:r>
            <a:endParaRPr lang="en-US" sz="1600" dirty="0"/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Other Unsupervised Techniques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Beyond K-Means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Algorithms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137160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78408" y="1481328"/>
            <a:ext cx="288950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Hierarchical Clustering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Creates a tree of clusters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26280" y="137160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36008" y="1481328"/>
            <a:ext cx="288950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DBSCAN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Finds dense regions and outliers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83880" y="137160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93608" y="1481328"/>
            <a:ext cx="288950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PCA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Reduces dimensions while preserving variance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05840" y="4343400"/>
            <a:ext cx="9966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651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05840" y="4343400"/>
            <a:ext cx="73152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34440" y="448970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Unsupervised learning is useful when labels are expensive, unavailable, or when the objective is exploration.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Algorithm Selection Cheat Sheet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A simple starting point for choosing models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Algorithms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1143000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1252728"/>
            <a:ext cx="27066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Need a number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69080" y="1143000"/>
            <a:ext cx="6949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78808" y="1252728"/>
            <a:ext cx="67299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</a:rPr>
              <a:t>Linear Regression, Random Forest, Gradient Boosting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1892808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32688" y="2002536"/>
            <a:ext cx="27066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Need a class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069080" y="1892808"/>
            <a:ext cx="6949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78808" y="2002536"/>
            <a:ext cx="67299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</a:rPr>
              <a:t>Logistic Regression, Decision Tree, Random Forest, SVM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2642616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32688" y="2752344"/>
            <a:ext cx="27066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Need groups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69080" y="2642616"/>
            <a:ext cx="6949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78808" y="2752344"/>
            <a:ext cx="67299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</a:rPr>
              <a:t>K-Means, Hierarchical, DBSCAN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3392424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32688" y="3502152"/>
            <a:ext cx="27066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Need text classifier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069080" y="3392424"/>
            <a:ext cx="6949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78808" y="3502152"/>
            <a:ext cx="67299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</a:rPr>
              <a:t>Naive Bayes, Logistic Regression, Transformers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" y="4142232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32688" y="4251960"/>
            <a:ext cx="27066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Need image analysis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069080" y="4142232"/>
            <a:ext cx="6949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78808" y="4251960"/>
            <a:ext cx="67299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</a:rPr>
              <a:t>CNN / transfer learning</a:t>
            </a:r>
            <a:endParaRPr lang="en-US" sz="11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Overfitting and Underfitting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The core model quality problem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Model Quality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1600200"/>
            <a:ext cx="32004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78408" y="1709928"/>
            <a:ext cx="2980944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Underfitting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Too simple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Poor training and test performance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80560" y="1600200"/>
            <a:ext cx="32004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90288" y="1709928"/>
            <a:ext cx="2980944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Good Fit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Learns useful pattern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Generalizes well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92440" y="1600200"/>
            <a:ext cx="32004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02168" y="1709928"/>
            <a:ext cx="2980944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Overfitting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Memorizes training data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Poor test performance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4389120"/>
            <a:ext cx="100584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Use train/validation/test split, cross-validation and regularization.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Prefer the simplest model that gives reliable performance.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Hyperparameter Tuning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Improve performance by adjusting model settings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Model Quality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Baseline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79192" y="218541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953512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063240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Search space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9744" y="218541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84064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93792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Cross-validation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0296" y="218541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214616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24344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Best params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70848" y="218541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345168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454896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Final model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3246120"/>
            <a:ext cx="1005840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Examples: tree depth, number of trees, learning rate, regularization strength.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Common strategies: manual tuning, grid search, random search, Bayesian optimization.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Tune on validation data, not on final test data.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Deep Learning: Basic Idea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Deep Learning uses neural networks with multiple layers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Deep Learning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196596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78408" y="2075688"/>
            <a:ext cx="18836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Input layer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Raw features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54680" y="2423160"/>
            <a:ext cx="59436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931920" y="160020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041648" y="1709928"/>
            <a:ext cx="252374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Hidden layers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Learn representations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03720" y="2423160"/>
            <a:ext cx="59436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80960" y="196596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90688" y="2075688"/>
            <a:ext cx="19751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Output layer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Prediction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97280" y="4343400"/>
            <a:ext cx="9875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651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97280" y="4343400"/>
            <a:ext cx="73152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325880" y="4489704"/>
            <a:ext cx="95554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Deep Learning is especially powerful for images, audio, language, and very large datasets.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Artificial Neuron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A neuron takes inputs, applies weights, then an activation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Deep Learning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Inputs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79192" y="218541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953512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063240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Weights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9744" y="218541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84064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93792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Weighted sum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0296" y="218541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214616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24344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Activation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70848" y="218541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345168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454896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Output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3337560"/>
            <a:ext cx="996696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Weights decide the importance of each input.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Bias shifts the output up or down.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Activation introduces non-linearity so the network can learn complex patterns.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Neural Network Architecture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Layers transform data step by step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Deep Learning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371600" y="1234440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71600" y="3154680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71600" y="5074920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0" y="1234440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0" y="2194560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0" y="3154680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0" y="4114800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0" y="5074920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943600" y="1234440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43600" y="2514600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943600" y="3794760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43600" y="5074920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229600" y="1234440"/>
            <a:ext cx="320040" cy="3200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229600" y="5074920"/>
            <a:ext cx="320040" cy="3200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691640" y="1394460"/>
            <a:ext cx="1965960" cy="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691640" y="1394460"/>
            <a:ext cx="1965960" cy="96012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691640" y="1394460"/>
            <a:ext cx="1965960" cy="192024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691640" y="1394460"/>
            <a:ext cx="1965960" cy="288036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691640" y="1394460"/>
            <a:ext cx="1965960" cy="384048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691640" y="3314700"/>
            <a:ext cx="1965960" cy="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691640" y="3314700"/>
            <a:ext cx="1965960" cy="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691640" y="3314700"/>
            <a:ext cx="1965960" cy="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691640" y="3314700"/>
            <a:ext cx="1965960" cy="96012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691640" y="3314700"/>
            <a:ext cx="1965960" cy="192024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691640" y="5234940"/>
            <a:ext cx="1965960" cy="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691640" y="5234940"/>
            <a:ext cx="1965960" cy="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691640" y="5234940"/>
            <a:ext cx="1965960" cy="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691640" y="5234940"/>
            <a:ext cx="1965960" cy="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691640" y="5234940"/>
            <a:ext cx="1965960" cy="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977640" y="1394460"/>
            <a:ext cx="1965960" cy="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977640" y="1394460"/>
            <a:ext cx="1965960" cy="128016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977640" y="1394460"/>
            <a:ext cx="1965960" cy="256032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977640" y="1394460"/>
            <a:ext cx="1965960" cy="384048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977640" y="2354580"/>
            <a:ext cx="1965960" cy="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977640" y="2354580"/>
            <a:ext cx="1965960" cy="32004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977640" y="2354580"/>
            <a:ext cx="1965960" cy="160020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977640" y="2354580"/>
            <a:ext cx="1965960" cy="288036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977640" y="3314700"/>
            <a:ext cx="1965960" cy="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977640" y="3314700"/>
            <a:ext cx="1965960" cy="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977640" y="3314700"/>
            <a:ext cx="1965960" cy="64008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3977640" y="3314700"/>
            <a:ext cx="1965960" cy="192024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977640" y="4274820"/>
            <a:ext cx="1965960" cy="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3977640" y="4274820"/>
            <a:ext cx="1965960" cy="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3977640" y="4274820"/>
            <a:ext cx="1965960" cy="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3977640" y="4274820"/>
            <a:ext cx="1965960" cy="96012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3977640" y="5234940"/>
            <a:ext cx="1965960" cy="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3977640" y="5234940"/>
            <a:ext cx="1965960" cy="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3977640" y="5234940"/>
            <a:ext cx="1965960" cy="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3977640" y="5234940"/>
            <a:ext cx="1965960" cy="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263640" y="1394460"/>
            <a:ext cx="1965960" cy="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263640" y="1394460"/>
            <a:ext cx="1965960" cy="384048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263640" y="2674620"/>
            <a:ext cx="1965960" cy="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263640" y="2674620"/>
            <a:ext cx="1965960" cy="256032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263640" y="3954780"/>
            <a:ext cx="1965960" cy="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6263640" y="3954780"/>
            <a:ext cx="1965960" cy="128016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6263640" y="5234940"/>
            <a:ext cx="1965960" cy="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6263640" y="5234940"/>
            <a:ext cx="1965960" cy="0"/>
          </a:xfrm>
          <a:prstGeom prst="line">
            <a:avLst/>
          </a:prstGeom>
          <a:noFill/>
          <a:ln w="6350">
            <a:solidFill>
              <a:srgbClr val="CBD5E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8458200" y="1371600"/>
            <a:ext cx="292608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More layers can learn more complex representations.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More parameters can improve capacity but also increase overfitting risk.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Architecture depends on data type and business problem.</a:t>
            </a:r>
            <a:endParaRPr lang="en-US" sz="1300" dirty="0"/>
          </a:p>
        </p:txBody>
      </p:sp>
      <p:sp>
        <p:nvSpPr>
          <p:cNvPr id="6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Activation Functions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They help neural networks learn non-linear relationships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Deep Learning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32004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78408" y="1527048"/>
            <a:ext cx="298094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ReLU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max(0, x)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Common in hidden layers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32004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90288" y="1527048"/>
            <a:ext cx="298094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Sigmoid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0 to 1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Binary probability output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2440" y="1417320"/>
            <a:ext cx="32004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02168" y="1527048"/>
            <a:ext cx="298094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Softmax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Class probabilities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Multi-class output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0" y="4572000"/>
            <a:ext cx="9875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651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97280" y="4572000"/>
            <a:ext cx="73152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25880" y="4718304"/>
            <a:ext cx="95554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Without activation functions, stacked layers would behave like one simple linear model.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Neural Networks Learn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Training uses loss, backpropagation and optimization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Deep Learning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Forward pass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79192" y="218541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953512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063240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Calculate loss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9744" y="218541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84064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93792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Backpropagation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0296" y="218541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214616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24344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Update weights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70848" y="218541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345168" y="182880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454896" y="1938528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Repeat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3337560"/>
            <a:ext cx="1014984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Forward pass produces predictions.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Loss function measures how wrong predictions are.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Backpropagation finds how each weight contributed to error.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Optimizer updates weights to reduce future loss.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CNN Basics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Convolutional Neural Networks are used for image-like data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Deep Learning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19202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78408" y="2029968"/>
            <a:ext cx="17922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Image pixels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08960" y="2377440"/>
            <a:ext cx="68580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977640" y="169164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087368" y="1801368"/>
            <a:ext cx="252374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Convolution filters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Edges, textures, shapes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49440" y="2377440"/>
            <a:ext cx="68580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818120" y="19202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27848" y="2029968"/>
            <a:ext cx="20665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Classifier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Object / class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4160520"/>
            <a:ext cx="1014984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Common use cases: defect detection, OCR, medical imaging, image classification.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Transfer learning often gives strong results with less data.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RNN, LSTM and Transformers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Neural architectures for sequence and language data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Deep Learning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47548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78408" y="1527048"/>
            <a:ext cx="4535424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RNN / LSTM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Designed for sequence memory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Time series and text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629400" y="1417320"/>
            <a:ext cx="47548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739128" y="1527048"/>
            <a:ext cx="4535424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Transformer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Uses attention mechanism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Foundation of modern LLMs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97280" y="4572000"/>
            <a:ext cx="9875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651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97280" y="4572000"/>
            <a:ext cx="73152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25880" y="4718304"/>
            <a:ext cx="9555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Transformers are now central to modern NLP, summarization, question answering, chatbots and GenAI applications.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Deep Learning Workflow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The flow is similar to ML, but with more compute and tuning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Deep Learning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15468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755648"/>
            <a:ext cx="13274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Data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32660" y="200253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06980" y="1645920"/>
            <a:ext cx="15468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16708" y="1755648"/>
            <a:ext cx="13274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Preprocess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99560" y="200253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73880" y="1645920"/>
            <a:ext cx="15468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83608" y="1755648"/>
            <a:ext cx="13274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Architecture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66460" y="200253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40780" y="1645920"/>
            <a:ext cx="15468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50508" y="1755648"/>
            <a:ext cx="13274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Train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33360" y="200253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107680" y="1645920"/>
            <a:ext cx="15468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17408" y="1755648"/>
            <a:ext cx="13274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Validate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700260" y="200253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974580" y="1645920"/>
            <a:ext cx="15468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084308" y="1755648"/>
            <a:ext cx="13274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Deploy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1234440"/>
            <a:ext cx="498348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Requires more data and compute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Use GPUs for large models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Track loss curves and validation metrics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Use early stopping to avoid overfitting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92240" y="1234440"/>
            <a:ext cx="498348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Transfer learning can reduce training effort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Model size affects latency and cost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Explainability can be harder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Deployment needs monitoring just like ML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Regression Evaluation Metrics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Used when prediction output is numeric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Metrics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1435608"/>
            <a:ext cx="2340864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MAE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Mean Absolute Error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Average absolute mistake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20440" y="132588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30168" y="1435608"/>
            <a:ext cx="2340864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MSE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Mean Squared Error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Penalizes large errors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32588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19088" y="1435608"/>
            <a:ext cx="2340864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RMSE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Root Mean Squared Error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Same unit as target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098280" y="132588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208008" y="1435608"/>
            <a:ext cx="2112264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R² Score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Variance explained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Higher is better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886200"/>
            <a:ext cx="1005840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Use MAE when you want easy business interpretation.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Use RMSE when large errors are especially costly.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Use R² to explain how much variation the model captures.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Confusion Matrix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Foundation for classification evaluation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Metrics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097280" y="14173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07008" y="1527048"/>
            <a:ext cx="16093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Actual Positive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63240" y="14173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172968" y="1527048"/>
            <a:ext cx="16093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</a:rPr>
              <a:t>TP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892040" y="14173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01768" y="1527048"/>
            <a:ext cx="16093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</a:rPr>
              <a:t>FN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097280" y="23317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07008" y="2441448"/>
            <a:ext cx="16093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Actual Negative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063240" y="23317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172968" y="2441448"/>
            <a:ext cx="16093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</a:rPr>
              <a:t>FP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23317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01768" y="2441448"/>
            <a:ext cx="16093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</a:rPr>
              <a:t>TN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063240" y="77724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172968" y="886968"/>
            <a:ext cx="16093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Predicted Positive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92040" y="77724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01768" y="886968"/>
            <a:ext cx="16093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Predicted Negative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0" y="1325880"/>
            <a:ext cx="365760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TP: correctly predicted positive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TN: correctly predicted negative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FP: false alarm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FN: missed positive case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Classification Metrics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Choose based on the cost of mistakes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Metrics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1298448"/>
            <a:ext cx="234086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Accuracy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Correct / Total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Good when classes are balanced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20440" y="118872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30168" y="1298448"/>
            <a:ext cx="234086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Precision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TP / Predicted Positive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How many alerts were correct?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18872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19088" y="1298448"/>
            <a:ext cx="234086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Recall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TP / Actual Positive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How many positives were found?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098280" y="118872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208008" y="1298448"/>
            <a:ext cx="211226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F1 Score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Harmonic mean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Balance precision and recall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05840" y="4389120"/>
            <a:ext cx="9966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651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05840" y="4389120"/>
            <a:ext cx="73152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34440" y="45354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For fraud or disease detection, recall is often important because missing a true positive can be costly.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ROC-AUC and PR-AUC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Metrics based on prediction probabilities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Metrics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47548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78408" y="1527048"/>
            <a:ext cx="4535424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ROC-AUC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Measures ranking ability across thresholds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Useful with reasonably balanced data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629400" y="1417320"/>
            <a:ext cx="47548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739128" y="1527048"/>
            <a:ext cx="4535424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PR-AUC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Focuses on positive class quality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Useful with imbalanced data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4572000"/>
            <a:ext cx="9875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651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97280" y="4572000"/>
            <a:ext cx="73152" cy="8229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25880" y="4718304"/>
            <a:ext cx="9555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Threshold selection is a business decision. The same model can be tuned for fewer false alarms or fewer missed cases.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Clustering Evaluation Metrics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Used when there is no true label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Metrics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32461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78408" y="1527048"/>
            <a:ext cx="3026664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Silhouette Score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Cluster cohesion and separation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Range: -1 to 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32461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90288" y="1527048"/>
            <a:ext cx="3026664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Davies-Bouldin Index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Lower is better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Compares cluster compactness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2440" y="1417320"/>
            <a:ext cx="32461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02168" y="1527048"/>
            <a:ext cx="3026664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Business validation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Segments must be useful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Actionable and interpretable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0" y="4572000"/>
            <a:ext cx="9875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651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97280" y="4572000"/>
            <a:ext cx="73152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25880" y="4718304"/>
            <a:ext cx="95554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Clustering metrics are helpful, but final validation often comes from business usefulness.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Choose the Right Metric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Metrics must match the business risk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Metrics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1005840"/>
            <a:ext cx="384048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1115568"/>
            <a:ext cx="3621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Balanced classes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983480" y="1005840"/>
            <a:ext cx="585216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93208" y="1115568"/>
            <a:ext cx="56327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</a:rPr>
              <a:t>Accuracy, F1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1664208"/>
            <a:ext cx="384048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32688" y="1773936"/>
            <a:ext cx="3621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Imbalanced classification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83480" y="1664208"/>
            <a:ext cx="585216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93208" y="1773936"/>
            <a:ext cx="56327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</a:rPr>
              <a:t>Precision, Recall, F1, PR-AUC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2322576"/>
            <a:ext cx="384048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32688" y="2432304"/>
            <a:ext cx="3621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Missed positives are costly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83480" y="2322576"/>
            <a:ext cx="585216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93208" y="2432304"/>
            <a:ext cx="56327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</a:rPr>
              <a:t>Recall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2980944"/>
            <a:ext cx="384048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32688" y="3090672"/>
            <a:ext cx="3621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False alarms are costly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83480" y="2980944"/>
            <a:ext cx="585216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93208" y="3090672"/>
            <a:ext cx="56327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</a:rPr>
              <a:t>Precision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2960" y="3639312"/>
            <a:ext cx="384048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32688" y="3749040"/>
            <a:ext cx="3621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Numeric prediction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83480" y="3639312"/>
            <a:ext cx="585216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93208" y="3749040"/>
            <a:ext cx="56327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</a:rPr>
              <a:t>MAE, RMSE, R²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2960" y="4297680"/>
            <a:ext cx="384048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32688" y="4407408"/>
            <a:ext cx="3621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Ranking / probability model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983480" y="4297680"/>
            <a:ext cx="585216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93208" y="4407408"/>
            <a:ext cx="56327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</a:rPr>
              <a:t>ROC-AUC, PR-AUC</a:t>
            </a:r>
            <a:endParaRPr lang="en-US" sz="10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Summary and Learning Roadmap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A practical path for beginners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12680" y="39319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0ECFF"/>
          </a:solidFill>
          <a:ln w="12700">
            <a:solidFill>
              <a:srgbClr val="E0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85832" y="45262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Wrap-up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5468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618488"/>
            <a:ext cx="13274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Python &amp; Pandas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32660" y="186537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06980" y="1508760"/>
            <a:ext cx="15468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16708" y="1618488"/>
            <a:ext cx="13274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EDA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99560" y="186537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73880" y="1508760"/>
            <a:ext cx="15468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83608" y="1618488"/>
            <a:ext cx="13274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ML Algorithms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66460" y="186537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40780" y="1508760"/>
            <a:ext cx="15468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50508" y="1618488"/>
            <a:ext cx="13274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Evaluation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33360" y="186537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107680" y="1508760"/>
            <a:ext cx="15468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17408" y="1618488"/>
            <a:ext cx="13274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Deployment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700260" y="1865376"/>
            <a:ext cx="210312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974580" y="1508760"/>
            <a:ext cx="15468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084308" y="1618488"/>
            <a:ext cx="13274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MLOps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2880360"/>
            <a:ext cx="1014984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Machine Learning learns patterns from data and predicts on new data.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A good workflow matters as much as the algorithm.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Start with simple baselines, evaluate honestly, then improve.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Deep Learning extends ML using neural networks and is strong for unstructured data.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60120" y="5257800"/>
            <a:ext cx="101498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651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60120" y="5257800"/>
            <a:ext cx="7315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88720" y="5404104"/>
            <a:ext cx="9829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Suggested practice: build one regression project, one classification project, one clustering project and one simple deep learning demo.</a:t>
            </a:r>
            <a:endParaRPr lang="en-US" sz="13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2712</Words>
  <Application>Microsoft Macintosh PowerPoint</Application>
  <PresentationFormat>Widescreen</PresentationFormat>
  <Paragraphs>656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Machine Learning</dc:title>
  <dc:subject>Introduction to Machine Learning</dc:subject>
  <dc:creator>OpenAI</dc:creator>
  <cp:lastModifiedBy>Giridhar Sripathi</cp:lastModifiedBy>
  <cp:revision>2</cp:revision>
  <dcterms:created xsi:type="dcterms:W3CDTF">2026-05-11T08:13:06Z</dcterms:created>
  <dcterms:modified xsi:type="dcterms:W3CDTF">2026-05-11T08:16:57Z</dcterms:modified>
</cp:coreProperties>
</file>